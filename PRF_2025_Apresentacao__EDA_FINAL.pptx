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5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5547" y="1143000"/>
            <a:ext cx="483042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rPr dirty="0"/>
              <a:t>DIAGNÓSTICO ANALÍTICO</a:t>
            </a:r>
            <a:br>
              <a:rPr dirty="0"/>
            </a:br>
            <a:r>
              <a:rPr dirty="0"/>
              <a:t>DOS ACIDENTES PRF 2025</a:t>
            </a:r>
          </a:p>
          <a:p>
            <a:pPr algn="ctr">
              <a:defRPr sz="2000">
                <a:solidFill>
                  <a:srgbClr val="595959"/>
                </a:solidFill>
              </a:defRPr>
            </a:pPr>
            <a:r>
              <a:rPr dirty="0"/>
              <a:t>Do </a:t>
            </a:r>
            <a:r>
              <a:rPr lang="pt-BR" dirty="0"/>
              <a:t>D</a:t>
            </a:r>
            <a:r>
              <a:rPr dirty="0"/>
              <a:t>ado </a:t>
            </a:r>
            <a:r>
              <a:rPr lang="pt-BR" dirty="0"/>
              <a:t>B</a:t>
            </a:r>
            <a:r>
              <a:rPr dirty="0" err="1"/>
              <a:t>ruto</a:t>
            </a:r>
            <a:r>
              <a:rPr dirty="0"/>
              <a:t> à </a:t>
            </a:r>
            <a:r>
              <a:rPr lang="pt-BR" dirty="0"/>
              <a:t>D</a:t>
            </a:r>
            <a:r>
              <a:rPr dirty="0" err="1"/>
              <a:t>ecisão</a:t>
            </a:r>
            <a:r>
              <a:rPr dirty="0"/>
              <a:t> </a:t>
            </a:r>
            <a:r>
              <a:rPr lang="pt-BR" dirty="0"/>
              <a:t>P</a:t>
            </a:r>
            <a:r>
              <a:rPr dirty="0" err="1"/>
              <a:t>reventiva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0"/>
            <a:ext cx="310379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dirty="0"/>
              <a:t>• </a:t>
            </a:r>
            <a:r>
              <a:rPr dirty="0">
                <a:solidFill>
                  <a:srgbClr val="C00000"/>
                </a:solidFill>
              </a:rPr>
              <a:t>72.529</a:t>
            </a:r>
            <a:r>
              <a:rPr dirty="0"/>
              <a:t> </a:t>
            </a:r>
            <a:r>
              <a:rPr lang="pt-BR" dirty="0"/>
              <a:t>A</a:t>
            </a:r>
            <a:r>
              <a:rPr dirty="0" err="1"/>
              <a:t>cidentes</a:t>
            </a:r>
            <a:r>
              <a:rPr dirty="0"/>
              <a:t> </a:t>
            </a:r>
            <a:r>
              <a:rPr lang="pt-BR" dirty="0"/>
              <a:t>R</a:t>
            </a:r>
            <a:r>
              <a:rPr dirty="0" err="1"/>
              <a:t>egistrados</a:t>
            </a:r>
            <a:endParaRPr dirty="0"/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dirty="0"/>
              <a:t>• </a:t>
            </a:r>
            <a:r>
              <a:rPr dirty="0">
                <a:solidFill>
                  <a:srgbClr val="C00000"/>
                </a:solidFill>
              </a:rPr>
              <a:t>6.043</a:t>
            </a:r>
            <a:r>
              <a:rPr dirty="0"/>
              <a:t> </a:t>
            </a:r>
            <a:r>
              <a:rPr lang="pt-BR" dirty="0"/>
              <a:t>M</a:t>
            </a:r>
            <a:r>
              <a:rPr dirty="0" err="1"/>
              <a:t>ortos</a:t>
            </a:r>
            <a:endParaRPr dirty="0"/>
          </a:p>
          <a:p>
            <a:pPr>
              <a:defRPr sz="1800">
                <a:solidFill>
                  <a:srgbClr val="373737"/>
                </a:solidFill>
              </a:defRPr>
            </a:pPr>
            <a:r>
              <a:rPr dirty="0"/>
              <a:t>•</a:t>
            </a:r>
            <a:r>
              <a:rPr dirty="0">
                <a:solidFill>
                  <a:srgbClr val="C00000"/>
                </a:solidFill>
              </a:rPr>
              <a:t> 5.210 </a:t>
            </a:r>
            <a:r>
              <a:rPr lang="pt-BR" dirty="0"/>
              <a:t>A</a:t>
            </a:r>
            <a:r>
              <a:rPr dirty="0" err="1"/>
              <a:t>cidentes</a:t>
            </a:r>
            <a:r>
              <a:rPr dirty="0"/>
              <a:t> </a:t>
            </a:r>
            <a:r>
              <a:rPr lang="pt-BR" dirty="0"/>
              <a:t>F</a:t>
            </a:r>
            <a:r>
              <a:rPr dirty="0" err="1"/>
              <a:t>atais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5989320"/>
            <a:ext cx="42403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Nome:</a:t>
            </a:r>
            <a:r>
              <a:rPr lang="pt-BR" dirty="0"/>
              <a:t> José Cristovam De Santana</a:t>
            </a:r>
            <a:r>
              <a:rPr dirty="0"/>
              <a:t>   </a:t>
            </a:r>
            <a:r>
              <a:rPr dirty="0" err="1"/>
              <a:t>Equipe</a:t>
            </a:r>
            <a:r>
              <a:rPr dirty="0"/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PRF/DATATRAN 2025 • Analytics &amp; EDA • Slide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PRF Data Analytics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Problema → dados → hipóteses → decisão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303520" cy="132588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1. Problema Operacional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Alto índice de acidentes severos/fatais nas rodovias federais.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303520" cy="132588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2. Partes Interessadas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Comando Geral da PRF; DNT; agentes de patrulhamento de pista; motoristas.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5303520" cy="132588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3. Requisitos de Dados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UF, BR, município, causa_acidente, tipo_acidente, fase_dia, condicao_metereologica, mortos e feridos.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303520" cy="132588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4. Indicadores Obrigatórios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Total de acidentes; total de mortos/feridos; % de acidentes fatais; taxa de letalidade.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26280"/>
            <a:ext cx="5303520" cy="132588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5. Hipóteses e Relações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Verificar se determinados tipos de acidente, causas, fases do dia e condições climáticas concentram maior mortalidade/letalidade.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26280"/>
            <a:ext cx="5303520" cy="132588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6. Ações Recomendadas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Realocação de radares móveis; blitzes em horários críticos; reforço de patrulhamento; sinalização e ações educativas direcionadas.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PRF/DATATRAN 2025 • Analytics &amp; EDA • Slide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Visão geral dos indicadores globais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KPIs calculados no Excel com fórmulas visíveis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429000" cy="169164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dirty="0" err="1"/>
              <a:t>Acidentes</a:t>
            </a:r>
            <a:endParaRPr dirty="0"/>
          </a:p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72.529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2252" y="1394460"/>
            <a:ext cx="3429000" cy="169164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dirty="0" err="1"/>
              <a:t>Mortos</a:t>
            </a:r>
            <a:endParaRPr dirty="0"/>
          </a:p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6.043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417320"/>
            <a:ext cx="3429000" cy="169164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dirty="0"/>
              <a:t>Vítimas</a:t>
            </a:r>
          </a:p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89.593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3429000" cy="169164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dirty="0" err="1"/>
              <a:t>Fatais</a:t>
            </a:r>
            <a:endParaRPr dirty="0"/>
          </a:p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5.210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566160"/>
            <a:ext cx="3429000" cy="169164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dirty="0"/>
              <a:t>% </a:t>
            </a:r>
            <a:r>
              <a:rPr dirty="0" err="1"/>
              <a:t>fatais</a:t>
            </a:r>
            <a:endParaRPr dirty="0"/>
          </a:p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7.18%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566160"/>
            <a:ext cx="3429000" cy="169164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4E79"/>
                </a:solidFill>
              </a:defRPr>
            </a:pPr>
            <a:r>
              <a:rPr dirty="0" err="1"/>
              <a:t>Letalidade</a:t>
            </a:r>
            <a:endParaRPr dirty="0"/>
          </a:p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6.74%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Fórmulas: CONT.SE • SOMA • SE • CONT.VALORES | Vítimas = mortos + feridos graves + feridos leves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PRF/DATATRAN 2025 • Analytics &amp; EDA • Slide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Mapeamento crítico espacial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UF, BR e municípios — concentração e letalidade</a:t>
            </a:r>
          </a:p>
        </p:txBody>
      </p:sp>
      <p:pic>
        <p:nvPicPr>
          <p:cNvPr id="4" name="Picture 3" descr="mortos_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806440" cy="3489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325880"/>
            <a:ext cx="5303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leituras</a:t>
            </a:r>
            <a:endParaRPr dirty="0"/>
          </a:p>
          <a:p>
            <a:pPr>
              <a:defRPr sz="1300"/>
            </a:pPr>
            <a:r>
              <a:rPr dirty="0"/>
              <a:t>• UF </a:t>
            </a:r>
            <a:r>
              <a:rPr dirty="0" err="1"/>
              <a:t>líder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mortes</a:t>
            </a:r>
            <a:r>
              <a:rPr dirty="0"/>
              <a:t>: MG (765).</a:t>
            </a:r>
          </a:p>
          <a:p>
            <a:pPr>
              <a:defRPr sz="1300"/>
            </a:pPr>
            <a:r>
              <a:rPr dirty="0"/>
              <a:t>• BR </a:t>
            </a:r>
            <a:r>
              <a:rPr dirty="0" err="1"/>
              <a:t>líder</a:t>
            </a:r>
            <a:r>
              <a:rPr dirty="0"/>
              <a:t> no ranking </a:t>
            </a:r>
            <a:r>
              <a:rPr dirty="0" err="1"/>
              <a:t>bruto</a:t>
            </a:r>
            <a:r>
              <a:rPr dirty="0"/>
              <a:t> de </a:t>
            </a:r>
            <a:r>
              <a:rPr dirty="0" err="1"/>
              <a:t>mortes</a:t>
            </a:r>
            <a:r>
              <a:rPr dirty="0"/>
              <a:t>: 101.0.</a:t>
            </a:r>
          </a:p>
          <a:p>
            <a:pPr>
              <a:defRPr sz="1300"/>
            </a:pPr>
            <a:r>
              <a:rPr dirty="0"/>
              <a:t>• </a:t>
            </a:r>
            <a:r>
              <a:rPr dirty="0" err="1"/>
              <a:t>Município</a:t>
            </a:r>
            <a:r>
              <a:rPr dirty="0"/>
              <a:t> com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mortos</a:t>
            </a:r>
            <a:r>
              <a:rPr dirty="0"/>
              <a:t>: BRASILIA (47).</a:t>
            </a:r>
          </a:p>
          <a:p>
            <a:pPr>
              <a:defRPr sz="1300"/>
            </a:pPr>
            <a:r>
              <a:rPr dirty="0"/>
              <a:t>• A </a:t>
            </a:r>
            <a:r>
              <a:rPr dirty="0" err="1"/>
              <a:t>planilha</a:t>
            </a:r>
            <a:r>
              <a:rPr dirty="0"/>
              <a:t> </a:t>
            </a:r>
            <a:r>
              <a:rPr dirty="0" err="1"/>
              <a:t>mantém</a:t>
            </a:r>
            <a:r>
              <a:rPr dirty="0"/>
              <a:t> a </a:t>
            </a:r>
            <a:r>
              <a:rPr dirty="0" err="1"/>
              <a:t>matriz</a:t>
            </a:r>
            <a:r>
              <a:rPr dirty="0"/>
              <a:t> UF × BR para </a:t>
            </a:r>
            <a:r>
              <a:rPr dirty="0" err="1"/>
              <a:t>detalhamento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PRF/DATATRAN 2025 • Analytics &amp; EDA • Slide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Análise de causa-raiz e tipo de acidente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Onde a gravidade se concentra</a:t>
            </a:r>
          </a:p>
        </p:txBody>
      </p:sp>
      <p:pic>
        <p:nvPicPr>
          <p:cNvPr id="4" name="Picture 3" descr="mortos_ca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577840" cy="3052549"/>
          </a:xfrm>
          <a:prstGeom prst="rect">
            <a:avLst/>
          </a:prstGeom>
        </p:spPr>
      </p:pic>
      <p:pic>
        <p:nvPicPr>
          <p:cNvPr id="5" name="Picture 4" descr="mortos_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486400" cy="3043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715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Causa com mais mortes: Transitar na contramão (961). Tipo com mais mortes: Colisão frontal (1863).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PRF/DATATRAN 2025 • Analytics &amp; EDA • Slide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Matriz de condições ambientais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Fase do dia × condição climática — % de acidentes fatais</a:t>
            </a:r>
          </a:p>
        </p:txBody>
      </p:sp>
      <p:pic>
        <p:nvPicPr>
          <p:cNvPr id="4" name="Picture 3" descr="fase_cl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498079" cy="4368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508760"/>
            <a:ext cx="3826560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</a:defRPr>
            </a:pPr>
            <a:r>
              <a:rPr dirty="0"/>
              <a:t>Ponto de </a:t>
            </a:r>
            <a:r>
              <a:rPr dirty="0" err="1"/>
              <a:t>atenção</a:t>
            </a:r>
            <a:endParaRPr dirty="0"/>
          </a:p>
          <a:p>
            <a:pPr>
              <a:defRPr sz="1300"/>
            </a:pPr>
            <a:r>
              <a:rPr dirty="0"/>
              <a:t>• </a:t>
            </a:r>
            <a:r>
              <a:rPr dirty="0" err="1"/>
              <a:t>Maior</a:t>
            </a:r>
            <a:r>
              <a:rPr lang="pt-BR" dirty="0"/>
              <a:t> </a:t>
            </a:r>
            <a:r>
              <a:rPr dirty="0"/>
              <a:t> </a:t>
            </a:r>
            <a:r>
              <a:rPr dirty="0" err="1"/>
              <a:t>combinação</a:t>
            </a:r>
            <a:r>
              <a:rPr lang="pt-BR" dirty="0"/>
              <a:t> </a:t>
            </a:r>
            <a:r>
              <a:rPr dirty="0"/>
              <a:t> </a:t>
            </a:r>
            <a:r>
              <a:rPr dirty="0" err="1"/>
              <a:t>na</a:t>
            </a:r>
            <a:r>
              <a:rPr lang="pt-BR" dirty="0"/>
              <a:t> 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:</a:t>
            </a:r>
            <a:endParaRPr lang="pt-BR" dirty="0"/>
          </a:p>
          <a:p>
            <a:pPr>
              <a:defRPr sz="1300"/>
            </a:pPr>
            <a:r>
              <a:rPr lang="pt-BR" dirty="0"/>
              <a:t>  </a:t>
            </a:r>
            <a:r>
              <a:rPr dirty="0"/>
              <a:t> </a:t>
            </a:r>
            <a:r>
              <a:rPr dirty="0" err="1"/>
              <a:t>Anoitecer</a:t>
            </a:r>
            <a:r>
              <a:rPr dirty="0"/>
              <a:t> </a:t>
            </a:r>
            <a:r>
              <a:rPr lang="pt-BR" dirty="0"/>
              <a:t> </a:t>
            </a:r>
            <a:r>
              <a:rPr dirty="0"/>
              <a:t>+ </a:t>
            </a:r>
            <a:r>
              <a:rPr dirty="0" err="1"/>
              <a:t>Nevoeiro</a:t>
            </a:r>
            <a:r>
              <a:rPr dirty="0"/>
              <a:t>/</a:t>
            </a:r>
            <a:r>
              <a:rPr dirty="0" err="1"/>
              <a:t>Neblina</a:t>
            </a:r>
            <a:r>
              <a:rPr dirty="0"/>
              <a:t>.</a:t>
            </a:r>
          </a:p>
          <a:p>
            <a:pPr>
              <a:defRPr sz="1300"/>
            </a:pPr>
            <a:r>
              <a:rPr dirty="0"/>
              <a:t>• Percentual de </a:t>
            </a:r>
            <a:r>
              <a:rPr dirty="0" err="1"/>
              <a:t>fatais</a:t>
            </a:r>
            <a:r>
              <a:rPr dirty="0"/>
              <a:t> </a:t>
            </a:r>
            <a:r>
              <a:rPr dirty="0" err="1"/>
              <a:t>nessa</a:t>
            </a:r>
            <a:r>
              <a:rPr dirty="0"/>
              <a:t> </a:t>
            </a:r>
            <a:r>
              <a:rPr dirty="0" err="1"/>
              <a:t>célula</a:t>
            </a:r>
            <a:r>
              <a:rPr dirty="0"/>
              <a:t>: 25.00%.</a:t>
            </a:r>
          </a:p>
          <a:p>
            <a:pPr>
              <a:defRPr sz="1300"/>
            </a:pPr>
            <a:r>
              <a:rPr dirty="0"/>
              <a:t>• O </a:t>
            </a:r>
            <a:r>
              <a:rPr dirty="0" err="1"/>
              <a:t>cruzamento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investigação</a:t>
            </a:r>
            <a:r>
              <a:rPr dirty="0"/>
              <a:t> de </a:t>
            </a:r>
            <a:endParaRPr lang="pt-BR" dirty="0"/>
          </a:p>
          <a:p>
            <a:pPr>
              <a:defRPr sz="1300"/>
            </a:pPr>
            <a:r>
              <a:rPr dirty="0" err="1"/>
              <a:t>exposição</a:t>
            </a:r>
            <a:r>
              <a:rPr dirty="0"/>
              <a:t>, </a:t>
            </a:r>
            <a:r>
              <a:rPr dirty="0" err="1"/>
              <a:t>visibilidade</a:t>
            </a:r>
            <a:r>
              <a:rPr dirty="0"/>
              <a:t>, </a:t>
            </a:r>
            <a:r>
              <a:rPr dirty="0" err="1"/>
              <a:t>velocidade</a:t>
            </a:r>
            <a:r>
              <a:rPr dirty="0"/>
              <a:t> e </a:t>
            </a:r>
            <a:r>
              <a:rPr dirty="0" err="1"/>
              <a:t>condições</a:t>
            </a:r>
            <a:r>
              <a:rPr dirty="0"/>
              <a:t> da via.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PRF/DATATRAN 2025 • Analytics &amp; EDA • Slide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Plano de ação e recomendações preventivas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Da evidência para a decisão operacional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881360" cy="114300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1. </a:t>
            </a:r>
            <a:r>
              <a:rPr dirty="0" err="1"/>
              <a:t>Patrulhamento</a:t>
            </a:r>
            <a:r>
              <a:rPr dirty="0"/>
              <a:t> </a:t>
            </a:r>
            <a:r>
              <a:rPr dirty="0" err="1"/>
              <a:t>direcionado</a:t>
            </a:r>
            <a:endParaRPr dirty="0"/>
          </a:p>
          <a:p>
            <a:pPr>
              <a:defRPr sz="1200"/>
            </a:pPr>
            <a:r>
              <a:rPr dirty="0" err="1">
                <a:solidFill>
                  <a:schemeClr val="tx1"/>
                </a:solidFill>
              </a:rPr>
              <a:t>Priorizar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horários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fases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dirty="0" err="1">
                <a:solidFill>
                  <a:schemeClr val="tx1"/>
                </a:solidFill>
              </a:rPr>
              <a:t>combinações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ambientais</a:t>
            </a:r>
            <a:r>
              <a:rPr dirty="0">
                <a:solidFill>
                  <a:schemeClr val="tx1"/>
                </a:solidFill>
              </a:rPr>
              <a:t> com </a:t>
            </a:r>
            <a:r>
              <a:rPr dirty="0" err="1">
                <a:solidFill>
                  <a:schemeClr val="tx1"/>
                </a:solidFill>
              </a:rPr>
              <a:t>maior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proporção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acidentes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fatais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39"/>
            <a:ext cx="10881360" cy="114300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2. </a:t>
            </a:r>
            <a:r>
              <a:rPr dirty="0" err="1"/>
              <a:t>Fiscalização</a:t>
            </a:r>
            <a:r>
              <a:rPr dirty="0"/>
              <a:t> e </a:t>
            </a:r>
            <a:r>
              <a:rPr lang="pt-BR" dirty="0"/>
              <a:t>E</a:t>
            </a:r>
            <a:r>
              <a:rPr dirty="0" err="1"/>
              <a:t>ducação</a:t>
            </a:r>
            <a:endParaRPr dirty="0"/>
          </a:p>
          <a:p>
            <a:pPr>
              <a:defRPr sz="1200"/>
            </a:pPr>
            <a:r>
              <a:rPr dirty="0" err="1">
                <a:solidFill>
                  <a:schemeClr val="tx1"/>
                </a:solidFill>
              </a:rPr>
              <a:t>Concentrar</a:t>
            </a:r>
            <a:r>
              <a:rPr dirty="0">
                <a:solidFill>
                  <a:schemeClr val="tx1"/>
                </a:solidFill>
              </a:rPr>
              <a:t> blitzes, </a:t>
            </a:r>
            <a:r>
              <a:rPr lang="pt-BR" dirty="0">
                <a:solidFill>
                  <a:schemeClr val="tx1"/>
                </a:solidFill>
              </a:rPr>
              <a:t>R</a:t>
            </a:r>
            <a:r>
              <a:rPr dirty="0" err="1">
                <a:solidFill>
                  <a:schemeClr val="tx1"/>
                </a:solidFill>
              </a:rPr>
              <a:t>adares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M</a:t>
            </a:r>
            <a:r>
              <a:rPr dirty="0" err="1">
                <a:solidFill>
                  <a:schemeClr val="tx1"/>
                </a:solidFill>
              </a:rPr>
              <a:t>óveis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lang="pt-BR" dirty="0">
                <a:solidFill>
                  <a:schemeClr val="tx1"/>
                </a:solidFill>
              </a:rPr>
              <a:t>C</a:t>
            </a:r>
            <a:r>
              <a:rPr dirty="0" err="1">
                <a:solidFill>
                  <a:schemeClr val="tx1"/>
                </a:solidFill>
              </a:rPr>
              <a:t>ampanhas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nas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C</a:t>
            </a:r>
            <a:r>
              <a:rPr dirty="0" err="1">
                <a:solidFill>
                  <a:schemeClr val="tx1"/>
                </a:solidFill>
              </a:rPr>
              <a:t>ausas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lang="pt-BR" dirty="0">
                <a:solidFill>
                  <a:schemeClr val="tx1"/>
                </a:solidFill>
              </a:rPr>
              <a:t>T</a:t>
            </a:r>
            <a:r>
              <a:rPr dirty="0" err="1">
                <a:solidFill>
                  <a:schemeClr val="tx1"/>
                </a:solidFill>
              </a:rPr>
              <a:t>ipos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lang="pt-BR" dirty="0">
                <a:solidFill>
                  <a:schemeClr val="tx1"/>
                </a:solidFill>
              </a:rPr>
              <a:t>M</a:t>
            </a:r>
            <a:r>
              <a:rPr dirty="0" err="1">
                <a:solidFill>
                  <a:schemeClr val="tx1"/>
                </a:solidFill>
              </a:rPr>
              <a:t>aior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I</a:t>
            </a:r>
            <a:r>
              <a:rPr dirty="0" err="1">
                <a:solidFill>
                  <a:schemeClr val="tx1"/>
                </a:solidFill>
              </a:rPr>
              <a:t>mpacto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10881360" cy="1143000"/>
          </a:xfrm>
          <a:prstGeom prst="roundRect">
            <a:avLst/>
          </a:prstGeom>
          <a:solidFill>
            <a:srgbClr val="E6EF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3. </a:t>
            </a:r>
            <a:r>
              <a:rPr dirty="0" err="1"/>
              <a:t>Intervenção</a:t>
            </a:r>
            <a:r>
              <a:rPr dirty="0"/>
              <a:t> territorial</a:t>
            </a:r>
          </a:p>
          <a:p>
            <a:pPr>
              <a:defRPr sz="1200"/>
            </a:pPr>
            <a:r>
              <a:rPr dirty="0" err="1">
                <a:solidFill>
                  <a:schemeClr val="tx1"/>
                </a:solidFill>
              </a:rPr>
              <a:t>Usar</a:t>
            </a:r>
            <a:r>
              <a:rPr dirty="0">
                <a:solidFill>
                  <a:schemeClr val="tx1"/>
                </a:solidFill>
              </a:rPr>
              <a:t> UF × BR × </a:t>
            </a:r>
            <a:r>
              <a:rPr dirty="0" err="1">
                <a:solidFill>
                  <a:schemeClr val="tx1"/>
                </a:solidFill>
              </a:rPr>
              <a:t>município</a:t>
            </a:r>
            <a:r>
              <a:rPr dirty="0">
                <a:solidFill>
                  <a:schemeClr val="tx1"/>
                </a:solidFill>
              </a:rPr>
              <a:t> para </a:t>
            </a:r>
            <a:r>
              <a:rPr dirty="0" err="1">
                <a:solidFill>
                  <a:schemeClr val="tx1"/>
                </a:solidFill>
              </a:rPr>
              <a:t>priorizar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trechos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sinalização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dirty="0" err="1">
                <a:solidFill>
                  <a:schemeClr val="tx1"/>
                </a:solidFill>
              </a:rPr>
              <a:t>ações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engenharia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Mensagem final: reduzir mortes exige combinar localização, causa, tipo de acidente e contexto temporal/ambiental.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554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CRIST</cp:lastModifiedBy>
  <cp:revision>3</cp:revision>
  <dcterms:created xsi:type="dcterms:W3CDTF">2013-01-27T09:14:16Z</dcterms:created>
  <dcterms:modified xsi:type="dcterms:W3CDTF">2026-09-06T02:56:35Z</dcterms:modified>
  <cp:category/>
</cp:coreProperties>
</file>